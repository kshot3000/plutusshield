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F2C94C"/>
                </a:solidFill>
                <a:latin typeface="Courier New"/>
              </a:rPr>
              <a:t>MIDNIGHT BUILDATHON · WAVE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9EBF5"/>
                </a:solidFill>
                <a:latin typeface="Georgia"/>
              </a:rPr>
              <a:t>Protection you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9EBF5"/>
                </a:solidFill>
                <a:latin typeface="Georgia"/>
              </a:rPr>
              <a:t>can </a:t>
            </a:r>
            <a:r>
              <a:rPr sz="4400" b="0">
                <a:solidFill>
                  <a:srgbClr val="7C9CFF"/>
                </a:solidFill>
                <a:latin typeface="Georgia"/>
              </a:rPr>
              <a:t>prove.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9EBF5"/>
                </a:solidFill>
                <a:latin typeface="Georgia"/>
              </a:rPr>
              <a:t>Positions you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9EBF5"/>
                </a:solidFill>
                <a:latin typeface="Georgia"/>
              </a:rPr>
              <a:t>never </a:t>
            </a:r>
            <a:r>
              <a:rPr sz="4400" b="0">
                <a:solidFill>
                  <a:srgbClr val="A78BFA"/>
                </a:solidFill>
                <a:latin typeface="Georgia"/>
              </a:rPr>
              <a:t>expose.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65"/>
              </a:spcAft>
            </a:pPr>
            <a:r>
              <a:rPr sz="1700" b="0">
                <a:solidFill>
                  <a:srgbClr val="9AA0BD"/>
                </a:solidFill>
                <a:latin typeface="Helvetica"/>
              </a:rPr>
              <a:t>PlutusShield is DeFi and smart-contract insurance. Cardano holds the money and pays claims. Midnight keeps who is covered, for how much, and the claim evidence private.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7C9CFF"/>
                </a:solidFill>
                <a:latin typeface="Courier New"/>
              </a:rPr>
              <a:t>kshot3000.github.io/PlutusShield  ·  github.com/Kshot3000/PlutusShield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4937760" cy="27774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PlutusShield · Midnight Buildathon Wave 2 · testnet only, not audited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F2C94C"/>
                </a:solidFill>
                <a:latin typeface="Courier New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4000" b="0">
                <a:solidFill>
                  <a:srgbClr val="E9EBF5"/>
                </a:solidFill>
                <a:latin typeface="Georgia"/>
              </a:rPr>
              <a:t>DeFi cover today makes you choose: get paid, or stay private.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5182B"/>
          </a:solidFill>
          <a:ln w="12700">
            <a:solidFill>
              <a:srgbClr val="2A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7C9CFF"/>
                </a:solidFill>
                <a:latin typeface="Helvetica"/>
              </a:rPr>
              <a:t>Cover leaks your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2926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On a public chain a policy says who you are, what you hold and how much you insured. That is a map for anyone hunting large positions.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23774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5182B"/>
          </a:solidFill>
          <a:ln w="12700">
            <a:solidFill>
              <a:srgbClr val="2A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7" y="26060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7C9CFF"/>
                </a:solidFill>
                <a:latin typeface="Helvetica"/>
              </a:rPr>
              <a:t>Claims leak your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3108960"/>
            <a:ext cx="2926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Exploit claims need proof: tx traces, screenshots, wallet history. Posting it publicly exposes the claimant and sometimes the bug.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23774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5182B"/>
          </a:solidFill>
          <a:ln w="12700">
            <a:solidFill>
              <a:srgbClr val="2A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26060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7C9CFF"/>
                </a:solidFill>
                <a:latin typeface="Helvetica"/>
              </a:rPr>
              <a:t>Payouts need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3108960"/>
            <a:ext cx="2926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Most cover relies on one assessor or a token vote. Users need to see that no single key can approve or block a payout.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PlutusShield · Midnight Buildathon Wave 2 · testnet only, not audited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F2C94C"/>
                </a:solidFill>
                <a:latin typeface="Courier New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4000" b="0">
                <a:solidFill>
                  <a:srgbClr val="E9EBF5"/>
                </a:solidFill>
                <a:latin typeface="Georgia"/>
              </a:rPr>
              <a:t>Cardano settles. Midnight keeps the secrets.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15182B"/>
          </a:solidFill>
          <a:ln w="12700">
            <a:solidFill>
              <a:srgbClr val="2A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7C9CFF"/>
                </a:solidFill>
                <a:latin typeface="Helvetica"/>
              </a:rPr>
              <a:t>Cardano Preview · Aiken, Plutus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Premiums paid in ADA or test USDC (tUSDCx) into on-chain pools.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Depeg cover pays from oracle feeds; sales close by themselves if the feeds go stale or the peg breaks.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Exploit cover pays only with 2-of-3 committee signatures, enforced by the validator.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The policy datum holds a hash commitment, not the terms.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19456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15182B"/>
          </a:solidFill>
          <a:ln w="12700">
            <a:solidFill>
              <a:srgbClr val="2A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2423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A78BFA"/>
                </a:solidFill>
                <a:latin typeface="Helvetica"/>
              </a:rPr>
              <a:t>Midnight Preprod · Compact, ZK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9260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registerPolicy stores a commitment to the holder and terms.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proveCover(policyId, minCoverage) proves cover is at least X without revealing the real limit.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fileClaim puts only a commitment to the encrypted evidence on chain.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voteClaim tallies three committee seats; 2 approvals mark the claim PAID.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PlutusShield · Midnight Buildathon Wave 2 · testnet only, not audited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F2C94C"/>
                </a:solidFill>
                <a:latin typeface="Courier New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4000" b="0">
                <a:solidFill>
                  <a:srgbClr val="E9EBF5"/>
                </a:solidFill>
                <a:latin typeface="Georgia"/>
              </a:rPr>
              <a:t>One policy, two chains, a relay in between.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725912" cy="3108960"/>
          </a:xfrm>
          <a:prstGeom prst="roundRect">
            <a:avLst>
              <a:gd name="adj" fmla="val 4000"/>
            </a:avLst>
          </a:prstGeom>
          <a:solidFill>
            <a:srgbClr val="15182B"/>
          </a:solidFill>
          <a:ln>
            <a:solidFill>
              <a:srgbClr val="2A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30"/>
              </a:spcAft>
            </a:pPr>
            <a:r>
              <a:rPr sz="1400" b="0">
                <a:solidFill>
                  <a:srgbClr val="E9EBF5"/>
                </a:solidFill>
                <a:latin typeface="Courier New"/>
              </a:rPr>
              <a:t> Cardano Preview (Aiken, Plutus V3)            Midnight Preprod (Compact, ZK)</a:t>
            </a:r>
          </a:p>
          <a:p>
            <a:pPr algn="l">
              <a:lnSpc>
                <a:spcPct val="100000"/>
              </a:lnSpc>
              <a:spcAft>
                <a:spcPts val="630"/>
              </a:spcAft>
            </a:pPr>
            <a:r>
              <a:rPr sz="1400" b="0">
                <a:solidFill>
                  <a:srgbClr val="E9EBF5"/>
                </a:solidFill>
                <a:latin typeface="Courier New"/>
              </a:rPr>
              <a:t> ─────────────────────────────────             ───────────────────────────────</a:t>
            </a:r>
          </a:p>
          <a:p>
            <a:pPr algn="l">
              <a:lnSpc>
                <a:spcPct val="100000"/>
              </a:lnSpc>
              <a:spcAft>
                <a:spcPts val="630"/>
              </a:spcAft>
            </a:pPr>
            <a:r>
              <a:rPr sz="1400" b="0">
                <a:solidFill>
                  <a:srgbClr val="E9EBF5"/>
                </a:solidFill>
                <a:latin typeface="Courier New"/>
              </a:rPr>
              <a:t> Buy tx: premium + policy datum   ──relay──►   registerPolicy(commitment)</a:t>
            </a:r>
          </a:p>
          <a:p>
            <a:pPr algn="l">
              <a:lnSpc>
                <a:spcPct val="100000"/>
              </a:lnSpc>
              <a:spcAft>
                <a:spcPts val="630"/>
              </a:spcAft>
            </a:pPr>
            <a:r>
              <a:rPr sz="1400" b="0">
                <a:solidFill>
                  <a:srgbClr val="E9EBF5"/>
                </a:solidFill>
                <a:latin typeface="Courier New"/>
              </a:rPr>
              <a:t>   (holds only a hash commitment)              proveCover(id, ≥min)  [ZK, holder]</a:t>
            </a:r>
          </a:p>
          <a:p>
            <a:pPr algn="l">
              <a:lnSpc>
                <a:spcPct val="100000"/>
              </a:lnSpc>
              <a:spcAft>
                <a:spcPts val="630"/>
              </a:spcAft>
            </a:pPr>
            <a:r>
              <a:rPr sz="1400" b="0">
                <a:solidFill>
                  <a:srgbClr val="E9EBF5"/>
                </a:solidFill>
                <a:latin typeface="Courier New"/>
              </a:rPr>
              <a:t> Depeg pool: oracle feeds (2h)                 fileClaim(id, evidenceCommitment)</a:t>
            </a:r>
          </a:p>
          <a:p>
            <a:pPr algn="l">
              <a:lnSpc>
                <a:spcPct val="100000"/>
              </a:lnSpc>
              <a:spcAft>
                <a:spcPts val="630"/>
              </a:spcAft>
            </a:pPr>
            <a:r>
              <a:rPr sz="1400" b="0">
                <a:solidFill>
                  <a:srgbClr val="E9EBF5"/>
                </a:solidFill>
                <a:latin typeface="Courier New"/>
              </a:rPr>
              <a:t> Exploit pool: Settle needs        ◄─decision─ voteClaim × 3 seats → PAID at 2-of-3</a:t>
            </a:r>
          </a:p>
          <a:p>
            <a:pPr algn="l">
              <a:lnSpc>
                <a:spcPct val="100000"/>
              </a:lnSpc>
              <a:spcAft>
                <a:spcPts val="630"/>
              </a:spcAft>
            </a:pPr>
            <a:r>
              <a:rPr sz="1400" b="0">
                <a:solidFill>
                  <a:srgbClr val="E9EBF5"/>
                </a:solidFill>
                <a:latin typeface="Courier New"/>
              </a:rPr>
              <a:t>   2-of-3 committee signatures                 (claim round resets on reject)</a:t>
            </a:r>
          </a:p>
          <a:p>
            <a:pPr algn="l">
              <a:lnSpc>
                <a:spcPct val="100000"/>
              </a:lnSpc>
              <a:spcAft>
                <a:spcPts val="630"/>
              </a:spcAft>
            </a:pPr>
            <a:r>
              <a:rPr sz="1400" b="0">
                <a:solidFill>
                  <a:srgbClr val="E9EBF5"/>
                </a:solidFill>
                <a:latin typeface="Courier New"/>
              </a:rPr>
              <a:t> Payout in ADA / tUSDCx                        Evidence: encrypted off chain, hash on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9AA0BD"/>
                </a:solidFill>
                <a:latin typeface="Helvetica"/>
              </a:rPr>
              <a:t>No wallet address, position size or evidence lands on Midnight in the clear. The relay only moves commitments one way and the committee decision the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PlutusShield · Midnight Buildathon Wave 2 · testnet only, not audited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F2C94C"/>
                </a:solidFill>
                <a:latin typeface="Courier New"/>
              </a:rPr>
              <a:t>BUILT ON MIDNIGHT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4000" b="0">
                <a:solidFill>
                  <a:srgbClr val="E9EBF5"/>
                </a:solidFill>
                <a:latin typeface="Georgia"/>
              </a:rPr>
              <a:t>Two Compact contracts, deployed and exercised on Preprod.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15182B"/>
          </a:solidFill>
          <a:ln w="12700">
            <a:solidFill>
              <a:srgbClr val="2A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A78BFA"/>
                </a:solidFill>
                <a:latin typeface="Helvetica"/>
              </a:rPr>
              <a:t>policy-cover 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Preprod contract  </a:t>
            </a:r>
            <a:r>
              <a:rPr sz="1500" b="0">
                <a:solidFill>
                  <a:srgbClr val="E9EBF5"/>
                </a:solidFill>
                <a:latin typeface="Courier New"/>
              </a:rPr>
              <a:t>d84c6187…925e8787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Circuits: registerPolicy, proveCover, rotateHolder, fileClaim, resolveClaim, expirePolicy.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5 policies registered and proven, 4 claims filed and resolved.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Single assessor: the first version, kept for the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19456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15182B"/>
          </a:solidFill>
          <a:ln w="12700">
            <a:solidFill>
              <a:srgbClr val="2A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2423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A78BFA"/>
                </a:solidFill>
                <a:latin typeface="Helvetica"/>
              </a:rPr>
              <a:t>policy-cover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9260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Preprod contract  </a:t>
            </a:r>
            <a:r>
              <a:rPr sz="1500" b="0">
                <a:solidFill>
                  <a:srgbClr val="E9EBF5"/>
                </a:solidFill>
                <a:latin typeface="Courier New"/>
              </a:rPr>
              <a:t>5430b803…4feb8110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Adds voteClaim: a 2-of-3 committee with per-round tallies; a reject resets the round.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First drill: approve, reject, approve, then PAID at 2 of 3.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Second: a holder-filed claim (claim kit), seats 1 + 3 approve, paid on Cardano.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4 Cardano Preview policies registered on v2.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85"/>
              </a:spcAft>
            </a:pPr>
            <a:r>
              <a:rPr sz="1300" b="0">
                <a:solidFill>
                  <a:srgbClr val="9AA0BD"/>
                </a:solidFill>
                <a:latin typeface="Courier New"/>
              </a:rPr>
              <a:t>compactc 0.31.1 · both contracts full-compile with prover and verifier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PlutusShield · Midnight Buildathon Wave 2 · testnet only, not audited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F2C94C"/>
                </a:solidFill>
                <a:latin typeface="Courier New"/>
              </a:rPr>
              <a:t>LIVE ON TESTNET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4000" b="0">
                <a:solidFill>
                  <a:srgbClr val="E9EBF5"/>
                </a:solidFill>
                <a:latin typeface="Georgia"/>
              </a:rPr>
              <a:t>Every line here is backed by a transaction.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E9EBF5"/>
                </a:solidFill>
                <a:latin typeface="Helvetica"/>
              </a:rPr>
              <a:t>Depeg pool (ADA + tUSDCx)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1031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9AA0BD"/>
                </a:solidFill>
                <a:latin typeface="Helvetica"/>
              </a:rPr>
              <a:t>11 live Preview policies, buy / claim / release from a CIP-30 wallet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1518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E9EBF5"/>
                </a:solidFill>
                <a:latin typeface="Helvetica"/>
              </a:rPr>
              <a:t>Exploit cover in the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61518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9AA0BD"/>
                </a:solidFill>
                <a:latin typeface="Helvetica"/>
              </a:rPr>
              <a:t>10 tADA bought with the website's own Buy builder, Buy 3c1fc629…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272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E9EBF5"/>
                </a:solidFill>
                <a:latin typeface="Helvetica"/>
              </a:rPr>
              <a:t>First exploit claim 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127248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9AA0BD"/>
                </a:solidFill>
                <a:latin typeface="Helvetica"/>
              </a:rPr>
              <a:t>50 tADA: Midnight claim PAID, then Cardano Settle 5509c2d9…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3931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E9EBF5"/>
                </a:solidFill>
                <a:latin typeface="Helvetica"/>
              </a:rPr>
              <a:t>First committee payout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63931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9AA0BD"/>
                </a:solidFill>
                <a:latin typeface="Helvetica"/>
              </a:rPr>
              <a:t>50 tADA co-signed by 2 of 3 assessors, Settle c35535dd…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5137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E9EBF5"/>
                </a:solidFill>
                <a:latin typeface="Helvetica"/>
              </a:rPr>
              <a:t>Holder-filed claim 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151376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9AA0BD"/>
                </a:solidFill>
                <a:latin typeface="Helvetica"/>
              </a:rPr>
              <a:t>Claim kit fileClaim 00989a6a…, v2 voteClaim 2 of 3, 25 tADA Settle dbf0ba7a…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E9EBF5"/>
                </a:solidFill>
                <a:latin typeface="Helvetica"/>
              </a:rPr>
              <a:t>1-of-3 payout attempt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6634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9AA0BD"/>
                </a:solidFill>
                <a:latin typeface="Helvetica"/>
              </a:rPr>
              <a:t>Rejected by the validator in both local and Blockfrost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7550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E9EBF5"/>
                </a:solidFill>
                <a:latin typeface="Helvetica"/>
              </a:rPr>
              <a:t>Depeg oracle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17550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9AA0BD"/>
                </a:solidFill>
                <a:latin typeface="Helvetica"/>
              </a:rPr>
              <a:t>52 recorded live publishes to 3 Preview feeds, latest 99.97% (Oct 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875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E9EBF5"/>
                </a:solidFill>
                <a:latin typeface="Helvetica"/>
              </a:rPr>
              <a:t>Midnight relay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687568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9AA0BD"/>
                </a:solidFill>
                <a:latin typeface="Helvetica"/>
              </a:rPr>
              <a:t>registerPolicy + proveCover on Preprod (v1 + v2), readable via Blockfrost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PlutusShield · Midnight Buildathon Wave 2 · testnet only, not audited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F2C94C"/>
                </a:solidFill>
                <a:latin typeface="Courier New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4000" b="0">
                <a:solidFill>
                  <a:srgbClr val="E9EBF5"/>
                </a:solidFill>
                <a:latin typeface="Georgia"/>
              </a:rPr>
              <a:t>A real app: quote, buy, prove, claim.</a:t>
            </a:r>
          </a:p>
        </p:txBody>
      </p:sp>
      <p:pic>
        <p:nvPicPr>
          <p:cNvPr id="4" name="Picture 3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5257800" cy="2957512"/>
          </a:xfrm>
          <a:prstGeom prst="rect">
            <a:avLst/>
          </a:prstGeom>
        </p:spPr>
      </p:pic>
      <p:pic>
        <p:nvPicPr>
          <p:cNvPr id="5" name="Picture 4" descr="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103120"/>
            <a:ext cx="5257800" cy="2957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66360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9AA0BD"/>
                </a:solidFill>
                <a:latin typeface="Helvetica"/>
              </a:rPr>
              <a:t>/cover: connect a Preview wallet, price depeg or exploit cover, pay in ADA or tUSDCx.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5166360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30"/>
              </a:spcAft>
            </a:pPr>
            <a:r>
              <a:rPr sz="1400" b="0">
                <a:solidFill>
                  <a:srgbClr val="9AA0BD"/>
                </a:solidFill>
                <a:latin typeface="Helvetica"/>
              </a:rPr>
              <a:t>/claim/evidence: evidence is encrypted in the browser (AES-256-GCM); only its SHA-256 commitment goes to fileClaim.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PlutusShield · Midnight Buildathon Wave 2 · testnet only, not audited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F2C94C"/>
                </a:solidFill>
                <a:latin typeface="Courier New"/>
              </a:rP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4000" b="0">
                <a:solidFill>
                  <a:srgbClr val="E9EBF5"/>
                </a:solidFill>
                <a:latin typeface="Georgia"/>
              </a:rPr>
              <a:t>354 unit tests plus an end-to-end emulator run, all green.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160"/>
              </a:spcAft>
            </a:pPr>
            <a:r>
              <a:rPr sz="4800" b="0">
                <a:solidFill>
                  <a:srgbClr val="7C9CFF"/>
                </a:solidFill>
                <a:latin typeface="Georgia"/>
              </a:rPr>
              <a:t>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Aiken validator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160"/>
              </a:spcAft>
            </a:pPr>
            <a:r>
              <a:rPr sz="4800" b="0">
                <a:solidFill>
                  <a:srgbClr val="7C9CFF"/>
                </a:solidFill>
                <a:latin typeface="Georgia"/>
              </a:rPr>
              <a:t>146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3832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SDK: quote engine, risk tiers, underwriting book, codecs, evidence vault, claim kit, Lace, prove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160"/>
              </a:spcAft>
            </a:pPr>
            <a:r>
              <a:rPr sz="4800" b="0">
                <a:solidFill>
                  <a:srgbClr val="7C9CFF"/>
                </a:solidFill>
                <a:latin typeface="Georgia"/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3832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Compact circuit simulation, claims relay, relay plan, state decode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160"/>
              </a:spcAft>
            </a:pPr>
            <a:r>
              <a:rPr sz="4800" b="0">
                <a:solidFill>
                  <a:srgbClr val="7C9CFF"/>
                </a:solidFill>
                <a:latin typeface="Georgia"/>
              </a:rPr>
              <a:t>14 + 3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3832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oracle relay · committee 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E9EBF5"/>
                </a:solidFill>
                <a:latin typeface="Helvetica"/>
              </a:rPr>
              <a:t>Lucid emulator e2e: pool, buy, settle, expire, exploit 2-of-3, every 1-of-3 combination rejected, exploit release.</a:t>
            </a:r>
          </a:p>
          <a:p>
            <a:pPr algn="l">
              <a:lnSpc>
                <a:spcPct val="110000"/>
              </a:lnSpc>
              <a:spcAft>
                <a:spcPts val="720"/>
              </a:spcAft>
            </a:pPr>
            <a:r>
              <a:rPr sz="1600" b="0">
                <a:solidFill>
                  <a:srgbClr val="E9EBF5"/>
                </a:solidFill>
                <a:latin typeface="Helvetica"/>
              </a:rPr>
              <a:t>Next.js static site, 18 routes, redeployed to GitHub Pages on every push; checked on iPhone (WebKit) and Pixel.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PlutusShield · Midnight Buildathon Wave 2 · testnet only, not audited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F2C94C"/>
                </a:solidFill>
                <a:latin typeface="Courier New"/>
              </a:rPr>
              <a:t>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4000" b="0">
                <a:solidFill>
                  <a:srgbClr val="E9EBF5"/>
                </a:solidFill>
                <a:latin typeface="Georgia"/>
              </a:rPr>
              <a:t>Honest about today. Clear about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15182B"/>
          </a:solidFill>
          <a:ln w="12700">
            <a:solidFill>
              <a:srgbClr val="2A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F2C94C"/>
                </a:solidFill>
                <a:latin typeface="Helvetica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Testnet only (Cardano Preview, Midnight Preprod). Not audited.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The three committee seats are run by the team.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Exploit evidence in the drills is demo evidence.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Holders file claims with the claim kit; File with Lace proves locally, first finalized submit pending.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19456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15182B"/>
          </a:solidFill>
          <a:ln w="12700">
            <a:solidFill>
              <a:srgbClr val="2A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2423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7C9CFF"/>
                </a:solidFill>
                <a:latin typeface="Helvetica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9260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Independent assessor operators (offline keygen and signed enrollment kit is in the repo).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First finalized File with Lace submit: the holder prove bridge already proves proveCover / fileClaim in about 1 s; Lace balances and submits.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Security audit, then a capped mainnet launch.</a:t>
            </a:r>
          </a:p>
          <a:p>
            <a:pPr algn="l">
              <a:lnSpc>
                <a:spcPct val="110000"/>
              </a:lnSpc>
              <a:spcAft>
                <a:spcPts val="675"/>
              </a:spcAft>
            </a:pPr>
            <a:r>
              <a:rPr sz="1500" b="0">
                <a:solidFill>
                  <a:srgbClr val="9AA0BD"/>
                </a:solidFill>
                <a:latin typeface="Helvetica"/>
              </a:rPr>
              <a:t>Catalyst funding for claim capital.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PlutusShield · Midnight Buildathon Wave 2 · testnet only, not audited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540"/>
              </a:spcAft>
            </a:pPr>
            <a:r>
              <a:rPr sz="1200" b="0">
                <a:solidFill>
                  <a:srgbClr val="F2C94C"/>
                </a:solidFill>
                <a:latin typeface="Courier New"/>
              </a:rP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4000" b="0">
                <a:solidFill>
                  <a:srgbClr val="E9EBF5"/>
                </a:solidFill>
                <a:latin typeface="Georgia"/>
              </a:rPr>
              <a:t>Insurance that pays on Cardano and </a:t>
            </a:r>
            <a:r>
              <a:rPr sz="4000" b="0">
                <a:solidFill>
                  <a:srgbClr val="A78BFA"/>
                </a:solidFill>
                <a:latin typeface="Georgia"/>
              </a:rPr>
              <a:t>stays quiet</a:t>
            </a:r>
            <a:r>
              <a:rPr sz="4000" b="0">
                <a:solidFill>
                  <a:srgbClr val="E9EBF5"/>
                </a:solidFill>
                <a:latin typeface="Georgia"/>
              </a:rPr>
              <a:t> on Midnight.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9AA0BD"/>
                </a:solidFill>
                <a:latin typeface="Helvetica"/>
              </a:rPr>
              <a:t>Live app   </a:t>
            </a:r>
            <a:r>
              <a:rPr sz="1800" b="0">
                <a:solidFill>
                  <a:srgbClr val="7C9CFF"/>
                </a:solidFill>
                <a:latin typeface="Courier New"/>
              </a:rPr>
              <a:t>https://kshot3000.github.io/PlutusShield/</a:t>
            </a:r>
          </a:p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9AA0BD"/>
                </a:solidFill>
                <a:latin typeface="Helvetica"/>
              </a:rPr>
              <a:t>Code       </a:t>
            </a:r>
            <a:r>
              <a:rPr sz="1800" b="0">
                <a:solidFill>
                  <a:srgbClr val="7C9CFF"/>
                </a:solidFill>
                <a:latin typeface="Courier New"/>
              </a:rPr>
              <a:t>https://github.com/Kshot3000/PlutusShield</a:t>
            </a:r>
          </a:p>
          <a:p>
            <a:pPr algn="l">
              <a:lnSpc>
                <a:spcPct val="110000"/>
              </a:lnSpc>
              <a:spcAft>
                <a:spcPts val="810"/>
              </a:spcAft>
            </a:pPr>
            <a:r>
              <a:rPr sz="1800" b="0">
                <a:solidFill>
                  <a:srgbClr val="9AA0BD"/>
                </a:solidFill>
                <a:latin typeface="Helvetica"/>
              </a:rPr>
              <a:t>Built by   </a:t>
            </a:r>
            <a:r>
              <a:rPr sz="1800" b="0">
                <a:solidFill>
                  <a:srgbClr val="7C9CFF"/>
                </a:solidFill>
                <a:latin typeface="Courier New"/>
              </a:rPr>
              <a:t>@kshot9000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PlutusShield · Midnight Buildathon Wave 2 · testnet only,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Aft>
                <a:spcPts val="450"/>
              </a:spcAft>
            </a:pPr>
            <a:r>
              <a:rPr sz="1000" b="0">
                <a:solidFill>
                  <a:srgbClr val="9AA0BD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